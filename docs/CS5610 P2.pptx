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BC7737-30AB-4BB0-B660-60C27D86BDBF}">
  <a:tblStyle styleId="{14BC7737-30AB-4BB0-B660-60C27D86BD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rg_user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rg_user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rg_product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rg_product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rg_watchlist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rg_watchlis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rg_architectur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rg_architectur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rg_dem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rg_dem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433875" y="1562675"/>
            <a:ext cx="7151400" cy="11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6000">
                <a:solidFill>
                  <a:srgbClr val="1E2124"/>
                </a:solidFill>
              </a:rPr>
              <a:t>RecallGuard</a:t>
            </a:r>
            <a:endParaRPr sz="6000">
              <a:solidFill>
                <a:srgbClr val="1E2124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84200" y="2844800"/>
            <a:ext cx="80010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rgbClr val="1E2124"/>
                </a:solidFill>
              </a:rPr>
              <a:t>Track products and check safety recalls</a:t>
            </a:r>
            <a:endParaRPr sz="2400">
              <a:solidFill>
                <a:srgbClr val="1E2124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84200" y="590825"/>
            <a:ext cx="7112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700">
                <a:solidFill>
                  <a:srgbClr val="1E2124"/>
                </a:solidFill>
              </a:rPr>
              <a:t>CS5610 Project 2</a:t>
            </a:r>
            <a:endParaRPr sz="1700">
              <a:solidFill>
                <a:srgbClr val="1E2124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925" y="1823925"/>
            <a:ext cx="835299" cy="8352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584200" y="4229100"/>
            <a:ext cx="7937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1E2124"/>
                </a:solidFill>
              </a:rPr>
              <a:t>Sheng Qin and Tian Yuan, Northeastern University</a:t>
            </a:r>
            <a:endParaRPr sz="1500">
              <a:solidFill>
                <a:srgbClr val="1E212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584200" y="355600"/>
            <a:ext cx="80010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1E2124"/>
                </a:solidFill>
              </a:rPr>
              <a:t>Users and user stories</a:t>
            </a:r>
            <a:endParaRPr sz="3200">
              <a:solidFill>
                <a:srgbClr val="1E2124"/>
              </a:solidFill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584200" y="1371600"/>
            <a:ext cx="3873600" cy="31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1E2124"/>
                </a:solidFill>
              </a:rPr>
              <a:t>Norman</a:t>
            </a:r>
            <a:endParaRPr b="1" sz="2400">
              <a:solidFill>
                <a:srgbClr val="1E2124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656B70"/>
                </a:solidFill>
              </a:rPr>
              <a:t>Owns electronics and household products</a:t>
            </a:r>
            <a:endParaRPr>
              <a:solidFill>
                <a:srgbClr val="656B70"/>
              </a:solidFill>
            </a:endParaRPr>
          </a:p>
          <a:p>
            <a:pPr indent="-292100" lvl="0" marL="1778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1E2124"/>
              </a:buClr>
              <a:buSzPts val="1800"/>
              <a:buChar char="●"/>
            </a:pPr>
            <a:r>
              <a:rPr lang="en-CA" sz="1800">
                <a:solidFill>
                  <a:srgbClr val="1E2124"/>
                </a:solidFill>
              </a:rPr>
              <a:t>Add, edit and delete products</a:t>
            </a:r>
            <a:endParaRPr sz="1800">
              <a:solidFill>
                <a:srgbClr val="1E2124"/>
              </a:solidFill>
            </a:endParaRPr>
          </a:p>
          <a:p>
            <a:pPr indent="-292100" lvl="0" marL="177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Char char="●"/>
            </a:pPr>
            <a:r>
              <a:rPr lang="en-CA" sz="1800">
                <a:solidFill>
                  <a:srgbClr val="1E2124"/>
                </a:solidFill>
              </a:rPr>
              <a:t>Search by brand and category</a:t>
            </a:r>
            <a:endParaRPr sz="1800">
              <a:solidFill>
                <a:srgbClr val="1E2124"/>
              </a:solidFill>
            </a:endParaRPr>
          </a:p>
          <a:p>
            <a:pPr indent="-292100" lvl="0" marL="177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Char char="●"/>
            </a:pPr>
            <a:r>
              <a:rPr lang="en-CA" sz="1800">
                <a:solidFill>
                  <a:srgbClr val="1E2124"/>
                </a:solidFill>
              </a:rPr>
              <a:t>Check possible recall matches</a:t>
            </a:r>
            <a:endParaRPr sz="1800">
              <a:solidFill>
                <a:srgbClr val="1E2124"/>
              </a:solidFill>
            </a:endParaRPr>
          </a:p>
        </p:txBody>
      </p:sp>
      <p:sp>
        <p:nvSpPr>
          <p:cNvPr id="65" name="Google Shape;65;p14"/>
          <p:cNvSpPr txBox="1"/>
          <p:nvPr>
            <p:ph idx="2" type="body"/>
          </p:nvPr>
        </p:nvSpPr>
        <p:spPr>
          <a:xfrm>
            <a:off x="4775200" y="1371600"/>
            <a:ext cx="3784500" cy="31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1E2124"/>
                </a:solidFill>
              </a:rPr>
              <a:t>Sarah</a:t>
            </a:r>
            <a:endParaRPr b="1" sz="2400">
              <a:solidFill>
                <a:srgbClr val="1E2124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656B70"/>
                </a:solidFill>
              </a:rPr>
              <a:t>Follows recalls and tracks next steps</a:t>
            </a:r>
            <a:endParaRPr>
              <a:solidFill>
                <a:srgbClr val="656B70"/>
              </a:solidFill>
            </a:endParaRPr>
          </a:p>
          <a:p>
            <a:pPr indent="-292100" lvl="0" marL="1778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1E2124"/>
              </a:buClr>
              <a:buSzPts val="1800"/>
              <a:buChar char="●"/>
            </a:pPr>
            <a:r>
              <a:rPr lang="en-CA" sz="1800">
                <a:solidFill>
                  <a:srgbClr val="1E2124"/>
                </a:solidFill>
              </a:rPr>
              <a:t>Search government recall records</a:t>
            </a:r>
            <a:endParaRPr sz="1800">
              <a:solidFill>
                <a:srgbClr val="1E2124"/>
              </a:solidFill>
            </a:endParaRPr>
          </a:p>
          <a:p>
            <a:pPr indent="-292100" lvl="0" marL="177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Char char="●"/>
            </a:pPr>
            <a:r>
              <a:rPr lang="en-CA" sz="1800">
                <a:solidFill>
                  <a:srgbClr val="1E2124"/>
                </a:solidFill>
              </a:rPr>
              <a:t>Save notices to a watchlist</a:t>
            </a:r>
            <a:endParaRPr sz="1800">
              <a:solidFill>
                <a:srgbClr val="1E2124"/>
              </a:solidFill>
            </a:endParaRPr>
          </a:p>
          <a:p>
            <a:pPr indent="-292100" lvl="0" marL="177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Char char="●"/>
            </a:pPr>
            <a:r>
              <a:rPr lang="en-CA" sz="1800">
                <a:solidFill>
                  <a:srgbClr val="1E2124"/>
                </a:solidFill>
              </a:rPr>
              <a:t>Update notes and action status</a:t>
            </a:r>
            <a:endParaRPr sz="1800">
              <a:solidFill>
                <a:srgbClr val="1E212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84200" y="355600"/>
            <a:ext cx="78741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1E2124"/>
                </a:solidFill>
              </a:rPr>
              <a:t>My Products</a:t>
            </a:r>
            <a:endParaRPr sz="3200">
              <a:solidFill>
                <a:srgbClr val="1E2124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584200" y="1117600"/>
            <a:ext cx="2793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1E2124"/>
                </a:solidFill>
              </a:rPr>
              <a:t>Sheng Qin</a:t>
            </a:r>
            <a:endParaRPr b="1" sz="1800">
              <a:solidFill>
                <a:srgbClr val="1E2124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84200" y="1701800"/>
            <a:ext cx="27306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Char char="●"/>
            </a:pPr>
            <a:r>
              <a:rPr lang="en-CA" sz="1800">
                <a:solidFill>
                  <a:srgbClr val="1E2124"/>
                </a:solidFill>
              </a:rPr>
              <a:t>Add, edit and delete products</a:t>
            </a:r>
            <a:endParaRPr sz="1800">
              <a:solidFill>
                <a:srgbClr val="1E2124"/>
              </a:solidFill>
            </a:endParaRPr>
          </a:p>
          <a:p>
            <a:pPr indent="-2921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Char char="●"/>
            </a:pPr>
            <a:r>
              <a:rPr lang="en-CA" sz="1800">
                <a:solidFill>
                  <a:srgbClr val="1E2124"/>
                </a:solidFill>
              </a:rPr>
              <a:t>Search by brand and category</a:t>
            </a:r>
            <a:endParaRPr sz="1800">
              <a:solidFill>
                <a:srgbClr val="1E2124"/>
              </a:solidFill>
            </a:endParaRPr>
          </a:p>
          <a:p>
            <a:pPr indent="-2921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Char char="●"/>
            </a:pPr>
            <a:r>
              <a:rPr lang="en-CA" sz="1800">
                <a:solidFill>
                  <a:srgbClr val="1E2124"/>
                </a:solidFill>
              </a:rPr>
              <a:t>Check possible recall matches</a:t>
            </a:r>
            <a:endParaRPr sz="1800">
              <a:solidFill>
                <a:srgbClr val="1E2124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0" y="1562100"/>
            <a:ext cx="4952998" cy="241219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3619500" y="41402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rgbClr val="1E2124"/>
                </a:solidFill>
              </a:rPr>
              <a:t>Inventory search and filters</a:t>
            </a:r>
            <a:endParaRPr sz="1300">
              <a:solidFill>
                <a:srgbClr val="1E212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584200" y="355600"/>
            <a:ext cx="78741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1E2124"/>
                </a:solidFill>
              </a:rPr>
              <a:t>Recall Explorer and Watchlist</a:t>
            </a:r>
            <a:endParaRPr sz="3200">
              <a:solidFill>
                <a:srgbClr val="1E2124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84200" y="1117600"/>
            <a:ext cx="2793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1E2124"/>
                </a:solidFill>
              </a:rPr>
              <a:t>Tian Yuan</a:t>
            </a:r>
            <a:endParaRPr b="1" sz="1800">
              <a:solidFill>
                <a:srgbClr val="1E2124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584200" y="1701800"/>
            <a:ext cx="27306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Char char="●"/>
            </a:pPr>
            <a:r>
              <a:rPr lang="en-CA" sz="1800">
                <a:solidFill>
                  <a:srgbClr val="1E2124"/>
                </a:solidFill>
              </a:rPr>
              <a:t>Search and filter official recalls</a:t>
            </a:r>
            <a:endParaRPr sz="1800">
              <a:solidFill>
                <a:srgbClr val="1E2124"/>
              </a:solidFill>
            </a:endParaRPr>
          </a:p>
          <a:p>
            <a:pPr indent="-2921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Char char="●"/>
            </a:pPr>
            <a:r>
              <a:rPr lang="en-CA" sz="1800">
                <a:solidFill>
                  <a:srgbClr val="1E2124"/>
                </a:solidFill>
              </a:rPr>
              <a:t>Save notices for later</a:t>
            </a:r>
            <a:endParaRPr sz="1800">
              <a:solidFill>
                <a:srgbClr val="1E2124"/>
              </a:solidFill>
            </a:endParaRPr>
          </a:p>
          <a:p>
            <a:pPr indent="-292100" lvl="0" marL="1778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Char char="●"/>
            </a:pPr>
            <a:r>
              <a:rPr lang="en-CA" sz="1800">
                <a:solidFill>
                  <a:srgbClr val="1E2124"/>
                </a:solidFill>
              </a:rPr>
              <a:t>Update notes and status, or remove saved recalls</a:t>
            </a:r>
            <a:endParaRPr sz="1800">
              <a:solidFill>
                <a:srgbClr val="1E2124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0" y="1562100"/>
            <a:ext cx="4952999" cy="244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3619500" y="41402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>
                <a:solidFill>
                  <a:srgbClr val="1E2124"/>
                </a:solidFill>
              </a:rPr>
              <a:t>Saved recall with status and notes</a:t>
            </a:r>
            <a:endParaRPr sz="1300">
              <a:solidFill>
                <a:srgbClr val="1E212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584200" y="355600"/>
            <a:ext cx="78741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1E2124"/>
                </a:solidFill>
              </a:rPr>
              <a:t>Application and data</a:t>
            </a:r>
            <a:endParaRPr sz="3200">
              <a:solidFill>
                <a:srgbClr val="1E2124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84200" y="1130300"/>
            <a:ext cx="80010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1E2124"/>
                </a:solidFill>
              </a:rPr>
              <a:t>Vanilla ES6 and Fetch on the client</a:t>
            </a:r>
            <a:endParaRPr sz="1800">
              <a:solidFill>
                <a:srgbClr val="1E2124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1E2124"/>
                </a:solidFill>
              </a:rPr>
              <a:t>Node.js and Express with the MongoDB native driver</a:t>
            </a:r>
            <a:endParaRPr sz="1800">
              <a:solidFill>
                <a:srgbClr val="1E2124"/>
              </a:solidFill>
            </a:endParaRPr>
          </a:p>
        </p:txBody>
      </p:sp>
      <p:graphicFrame>
        <p:nvGraphicFramePr>
          <p:cNvPr id="90" name="Google Shape;90;p17"/>
          <p:cNvGraphicFramePr/>
          <p:nvPr/>
        </p:nvGraphicFramePr>
        <p:xfrm>
          <a:off x="635000" y="200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{14BC7737-30AB-4BB0-B660-60C27D86BDBF}</a:tableStyleId>
              </a:tblPr>
              <a:tblGrid>
                <a:gridCol w="1651000"/>
                <a:gridCol w="4572000"/>
                <a:gridCol w="1651000"/>
              </a:tblGrid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600">
                          <a:solidFill>
                            <a:srgbClr val="1E2124"/>
                          </a:solidFill>
                        </a:rPr>
                        <a:t>Collection</a:t>
                      </a:r>
                      <a:endParaRPr b="1"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600">
                          <a:solidFill>
                            <a:srgbClr val="1E2124"/>
                          </a:solidFill>
                        </a:rPr>
                        <a:t>Data and operations</a:t>
                      </a:r>
                      <a:endParaRPr b="1"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600">
                          <a:solidFill>
                            <a:srgbClr val="1E2124"/>
                          </a:solidFill>
                        </a:rPr>
                        <a:t>Owner</a:t>
                      </a:r>
                      <a:endParaRPr b="1"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6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>
                          <a:solidFill>
                            <a:srgbClr val="1E2124"/>
                          </a:solidFill>
                        </a:rPr>
                        <a:t>products</a:t>
                      </a:r>
                      <a:endParaRPr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>
                          <a:solidFill>
                            <a:srgbClr val="1E2124"/>
                          </a:solidFill>
                        </a:rPr>
                        <a:t>Owned products, full CRUD</a:t>
                      </a:r>
                      <a:endParaRPr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>
                          <a:solidFill>
                            <a:srgbClr val="1E2124"/>
                          </a:solidFill>
                        </a:rPr>
                        <a:t>Sheng Qin</a:t>
                      </a:r>
                      <a:endParaRPr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>
                          <a:solidFill>
                            <a:srgbClr val="1E2124"/>
                          </a:solidFill>
                        </a:rPr>
                        <a:t>watchlist</a:t>
                      </a:r>
                      <a:endParaRPr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>
                          <a:solidFill>
                            <a:srgbClr val="1E2124"/>
                          </a:solidFill>
                        </a:rPr>
                        <a:t>Saved recalls, full CRUD</a:t>
                      </a:r>
                      <a:endParaRPr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>
                          <a:solidFill>
                            <a:srgbClr val="1E2124"/>
                          </a:solidFill>
                        </a:rPr>
                        <a:t>Tian Yuan</a:t>
                      </a:r>
                      <a:endParaRPr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>
                          <a:solidFill>
                            <a:srgbClr val="1E2124"/>
                          </a:solidFill>
                        </a:rPr>
                        <a:t>recalls</a:t>
                      </a:r>
                      <a:endParaRPr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>
                          <a:solidFill>
                            <a:srgbClr val="1E2124"/>
                          </a:solidFill>
                        </a:rPr>
                        <a:t>Shared government records, read only</a:t>
                      </a:r>
                      <a:endParaRPr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>
                          <a:solidFill>
                            <a:srgbClr val="1E2124"/>
                          </a:solidFill>
                        </a:rPr>
                        <a:t>Shared</a:t>
                      </a:r>
                      <a:endParaRPr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>
                          <a:solidFill>
                            <a:srgbClr val="1E2124"/>
                          </a:solidFill>
                        </a:rPr>
                        <a:t>users</a:t>
                      </a:r>
                      <a:endParaRPr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>
                          <a:solidFill>
                            <a:srgbClr val="1E2124"/>
                          </a:solidFill>
                        </a:rPr>
                        <a:t>Browser identity and expiry</a:t>
                      </a:r>
                      <a:endParaRPr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>
                          <a:solidFill>
                            <a:srgbClr val="1E2124"/>
                          </a:solidFill>
                        </a:rPr>
                        <a:t>Shared</a:t>
                      </a:r>
                      <a:endParaRPr sz="1600">
                        <a:solidFill>
                          <a:srgbClr val="1E2124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D8DC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Google Shape;91;p17"/>
          <p:cNvSpPr txBox="1"/>
          <p:nvPr/>
        </p:nvSpPr>
        <p:spPr>
          <a:xfrm>
            <a:off x="584200" y="4470400"/>
            <a:ext cx="8001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700">
                <a:solidFill>
                  <a:srgbClr val="1E2124"/>
                </a:solidFill>
              </a:rPr>
              <a:t>15,262 shared recall records from CPSC and Health Canada</a:t>
            </a:r>
            <a:endParaRPr sz="1700">
              <a:solidFill>
                <a:srgbClr val="1E212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584200" y="355600"/>
            <a:ext cx="78741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rgbClr val="1E2124"/>
                </a:solidFill>
              </a:rPr>
              <a:t>Website demonstration</a:t>
            </a:r>
            <a:endParaRPr sz="3200">
              <a:solidFill>
                <a:srgbClr val="1E2124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584200" y="1422400"/>
            <a:ext cx="2623800" cy="17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1E2124"/>
                </a:solidFill>
              </a:rPr>
              <a:t>Products and recall matches</a:t>
            </a:r>
            <a:endParaRPr sz="1800">
              <a:solidFill>
                <a:srgbClr val="1E2124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2124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1E2124"/>
                </a:solidFill>
              </a:rPr>
              <a:t>Recall search and Watchlist</a:t>
            </a:r>
            <a:endParaRPr sz="1800">
              <a:solidFill>
                <a:srgbClr val="1E2124"/>
              </a:solidFill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225" y="1422400"/>
            <a:ext cx="4945275" cy="244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